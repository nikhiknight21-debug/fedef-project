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86" r:id="rId2"/>
    <p:sldId id="260" r:id="rId3"/>
    <p:sldId id="278" r:id="rId4"/>
    <p:sldId id="257" r:id="rId5"/>
    <p:sldId id="321" r:id="rId6"/>
    <p:sldId id="323" r:id="rId7"/>
    <p:sldId id="330" r:id="rId8"/>
    <p:sldId id="324" r:id="rId9"/>
    <p:sldId id="277" r:id="rId10"/>
    <p:sldId id="331" r:id="rId11"/>
    <p:sldId id="332" r:id="rId12"/>
    <p:sldId id="327" r:id="rId13"/>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77"/>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6/20/2026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6/20/2026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IN" sz="3200" dirty="0"/>
              <a:t>Student Behaviour </a:t>
            </a:r>
            <a:r>
              <a:rPr lang="en-US" sz="3200" dirty="0">
                <a:latin typeface="Times New Roman" pitchFamily="18" charset="0"/>
                <a:cs typeface="Times New Roman" pitchFamily="18" charset="0"/>
              </a:rPr>
              <a:t>incident log</a:t>
            </a:r>
            <a:br>
              <a:rPr lang="en-US" sz="3200" dirty="0">
                <a:latin typeface="Times New Roman" pitchFamily="18" charset="0"/>
                <a:cs typeface="Times New Roman" pitchFamily="18" charset="0"/>
              </a:rPr>
            </a:br>
            <a:r>
              <a:rPr lang="en-US" sz="3200" dirty="0">
                <a:latin typeface="Times New Roman" pitchFamily="18" charset="0"/>
                <a:cs typeface="Times New Roman" pitchFamily="18" charset="0"/>
              </a:rPr>
              <a:t>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vert="horz" lIns="91440" tIns="45720" rIns="91440" bIns="45720" rtlCol="0" anchor="t">
            <a:normAutofit fontScale="400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just" eaLnBrk="1" hangingPunct="1">
              <a:lnSpc>
                <a:spcPct val="80000"/>
              </a:lnSpc>
              <a:defRPr/>
            </a:pPr>
            <a:r>
              <a:rPr lang="en-US" sz="3300" dirty="0">
                <a:solidFill>
                  <a:srgbClr val="0D0D0D"/>
                </a:solidFill>
                <a:latin typeface="Times New Roman" pitchFamily="18" charset="0"/>
                <a:cs typeface="Times New Roman" pitchFamily="18" charset="0"/>
              </a:rPr>
              <a:t>                                                                Name  </a:t>
            </a:r>
            <a:r>
              <a:rPr lang="en-US" sz="3300" dirty="0" err="1">
                <a:solidFill>
                  <a:srgbClr val="0D0D0D"/>
                </a:solidFill>
                <a:latin typeface="Times New Roman" pitchFamily="18" charset="0"/>
                <a:cs typeface="Times New Roman" pitchFamily="18" charset="0"/>
              </a:rPr>
              <a:t>B.chandra</a:t>
            </a:r>
            <a:r>
              <a:rPr lang="en-US" sz="3300" dirty="0">
                <a:solidFill>
                  <a:srgbClr val="0D0D0D"/>
                </a:solidFill>
                <a:latin typeface="Times New Roman" pitchFamily="18" charset="0"/>
                <a:cs typeface="Times New Roman" pitchFamily="18" charset="0"/>
              </a:rPr>
              <a:t> nikhilesh              roll 2520040091</a:t>
            </a:r>
          </a:p>
          <a:p>
            <a:pPr marR="0" algn="just" eaLnBrk="1" hangingPunct="1">
              <a:lnSpc>
                <a:spcPct val="80000"/>
              </a:lnSpc>
              <a:defRPr/>
            </a:pPr>
            <a:r>
              <a:rPr lang="en-US" sz="3300" dirty="0">
                <a:solidFill>
                  <a:srgbClr val="0D0D0D"/>
                </a:solidFill>
                <a:latin typeface="Times New Roman" pitchFamily="18" charset="0"/>
                <a:cs typeface="Times New Roman" pitchFamily="18" charset="0"/>
              </a:rPr>
              <a:t>                                                                 Name  guna </a:t>
            </a:r>
            <a:r>
              <a:rPr lang="en-US" sz="3300" dirty="0" err="1">
                <a:solidFill>
                  <a:srgbClr val="0D0D0D"/>
                </a:solidFill>
                <a:latin typeface="Times New Roman" pitchFamily="18" charset="0"/>
                <a:cs typeface="Times New Roman" pitchFamily="18" charset="0"/>
              </a:rPr>
              <a:t>sekhar</a:t>
            </a:r>
            <a:r>
              <a:rPr lang="en-US" sz="3300" dirty="0">
                <a:solidFill>
                  <a:srgbClr val="0D0D0D"/>
                </a:solidFill>
                <a:latin typeface="Times New Roman" pitchFamily="18" charset="0"/>
                <a:cs typeface="Times New Roman" pitchFamily="18" charset="0"/>
              </a:rPr>
              <a:t>                        roll 252004100</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10</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Anusha</a:t>
            </a:r>
          </a:p>
          <a:p>
            <a:pPr marR="0" algn="ctr" eaLnBrk="1" hangingPunct="1">
              <a:lnSpc>
                <a:spcPct val="80000"/>
              </a:lnSpc>
              <a:defRPr/>
            </a:pPr>
            <a:r>
              <a:rPr lang="en-US" sz="3400" b="1" dirty="0">
                <a:solidFill>
                  <a:srgbClr val="00B0F0"/>
                </a:solidFill>
                <a:latin typeface="Times New Roman"/>
                <a:cs typeface="Times New Roman"/>
              </a:rPr>
              <a:t>Assistant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a:bodyPr>
          <a:lstStyle/>
          <a:p>
            <a:r>
              <a:rPr lang="en-US" dirty="0">
                <a:latin typeface="Times New Roman" pitchFamily="18" charset="0"/>
                <a:cs typeface="Times New Roman" pitchFamily="18" charset="0"/>
              </a:rPr>
              <a:t>Abstract</a:t>
            </a:r>
          </a:p>
          <a:p>
            <a:r>
              <a:rPr lang="en-US" dirty="0">
                <a:latin typeface="Times New Roman" pitchFamily="18" charset="0"/>
                <a:cs typeface="Times New Roman" pitchFamily="18" charset="0"/>
              </a:rPr>
              <a:t>Introduction</a:t>
            </a:r>
          </a:p>
          <a:p>
            <a:r>
              <a:rPr lang="en-US" dirty="0">
                <a:latin typeface="Times New Roman" pitchFamily="18" charset="0"/>
                <a:cs typeface="Times New Roman" pitchFamily="18" charset="0"/>
              </a:rPr>
              <a:t>Problem Statement</a:t>
            </a:r>
          </a:p>
          <a:p>
            <a:r>
              <a:rPr lang="en-US" dirty="0">
                <a:latin typeface="Times New Roman" pitchFamily="18" charset="0"/>
                <a:cs typeface="Times New Roman" pitchFamily="18" charset="0"/>
              </a:rPr>
              <a:t>Modules[Frontend web pages]</a:t>
            </a:r>
          </a:p>
          <a:p>
            <a:r>
              <a:rPr lang="en-US" dirty="0">
                <a:latin typeface="Times New Roman" pitchFamily="18" charset="0"/>
                <a:cs typeface="Times New Roman" pitchFamily="18" charset="0"/>
              </a:rPr>
              <a:t>Expected Outcomes of the Proposed Work</a:t>
            </a:r>
          </a:p>
          <a:p>
            <a:r>
              <a:rPr lang="en-US" dirty="0">
                <a:latin typeface="Times New Roman" pitchFamily="18" charset="0"/>
                <a:cs typeface="Times New Roman" pitchFamily="18" charset="0"/>
              </a:rPr>
              <a:t>Conclusion </a:t>
            </a:r>
          </a:p>
          <a:p>
            <a:r>
              <a:rPr lang="en-US" dirty="0">
                <a:latin typeface="Times New Roman" pitchFamily="18" charset="0"/>
                <a:cs typeface="Times New Roman" pitchFamily="18" charset="0"/>
              </a:rPr>
              <a:t>References</a:t>
            </a:r>
          </a:p>
          <a:p>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endParaRPr lang="en-US" dirty="0"/>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Abstract</a:t>
            </a:r>
            <a:endParaRPr lang="en-US" sz="280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rmAutofit fontScale="62500" lnSpcReduction="20000"/>
          </a:bodyPr>
          <a:lstStyle/>
          <a:p>
            <a:r>
              <a:rPr lang="en-IN" dirty="0"/>
              <a:t>Student Behaviour Hub :-is a web-based application developed to simplify the management and monitoring of student behaviour, attendance, and academic records within educational institutions. The system provides a centralized platform where teachers and administrators can efficiently maintain student information, record behavioural incidents, track attendance, and evaluate student performance. It offers an interactive dashboard that presents key statistics and insights, helping educators identify behavioural trends and students who may require additional support. The application includes features such as secure user authentication, student profile management, behaviour point tracking, attendance monitoring, and report generation. Reports can be exported in PDF and Excel formats for documentation and analysis purposes. Built using modern technologies such as React, JavaScript, HTML, CSS, and Vite, the system ensures a responsive and user-friendly experience. By digitizing student behaviour management processes, the Student Behaviour Hub improves record accuracy, enhances decision-making, reduces administrative workload, and promotes a more organized and data-driven educational environment.</a:t>
            </a: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solidFill>
                  <a:srgbClr val="0070C0"/>
                </a:solidFill>
                <a:latin typeface="Times New Roman" pitchFamily="18" charset="0"/>
                <a:cs typeface="Times New Roman" pitchFamily="18" charset="0"/>
              </a:rPr>
              <a:t>Introduction</a:t>
            </a: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
        <p:nvSpPr>
          <p:cNvPr id="4" name="Rectangle 1">
            <a:extLst>
              <a:ext uri="{FF2B5EF4-FFF2-40B4-BE49-F238E27FC236}">
                <a16:creationId xmlns:a16="http://schemas.microsoft.com/office/drawing/2014/main" id="{E55DB91B-9EFC-D885-ECEF-94B1892E5C30}"/>
              </a:ext>
            </a:extLst>
          </p:cNvPr>
          <p:cNvSpPr>
            <a:spLocks noGrp="1" noChangeArrowheads="1"/>
          </p:cNvSpPr>
          <p:nvPr>
            <p:ph idx="1"/>
          </p:nvPr>
        </p:nvSpPr>
        <p:spPr bwMode="auto">
          <a:xfrm>
            <a:off x="457200" y="989338"/>
            <a:ext cx="8191500" cy="5478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a:ln>
                <a:noFill/>
              </a:ln>
              <a:solidFill>
                <a:schemeClr val="tx1"/>
              </a:solidFill>
              <a:effectLst/>
              <a:latin typeface="Arial" panose="020B0604020202020204" pitchFamily="34" charset="0"/>
            </a:endParaRPr>
          </a:p>
          <a:p>
            <a:pPr marL="0" indent="0" algn="just" eaLnBrk="0" fontAlgn="base" hangingPunct="0">
              <a:spcBef>
                <a:spcPct val="0"/>
              </a:spcBef>
              <a:spcAft>
                <a:spcPct val="0"/>
              </a:spcAft>
              <a:buFontTx/>
              <a:buChar char="•"/>
            </a:pPr>
            <a:r>
              <a:rPr lang="en-IN" sz="2400" b="1" dirty="0"/>
              <a:t>Student Behaviour Hub</a:t>
            </a:r>
            <a:r>
              <a:rPr lang="en-IN" sz="2400" dirty="0"/>
              <a:t> is a modern web-based application designed to improve the management of student records, attendance, and behavioural activities in educational institutions. Traditional methods of maintaining student information are often time-consuming and prone to errors. This system provides a centralized platform where teachers and administrators can efficiently monitor student performance, attendance, and disciplinary records. The application offers an interactive dashboard, reporting features, and data visualization tools that help in </a:t>
            </a:r>
            <a:r>
              <a:rPr lang="en-IN" sz="2400" dirty="0" err="1"/>
              <a:t>analyzing</a:t>
            </a:r>
            <a:r>
              <a:rPr lang="en-IN" sz="2400" dirty="0"/>
              <a:t> student behaviour patterns. By utilizing digital record management and automated reporting, the Student Behaviour Hub enhances efficiency, improves decision-making, and supports a more organized and data-driven educational environment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a:solidFill>
                  <a:srgbClr val="0070C0"/>
                </a:solidFill>
                <a:latin typeface="Times New Roman" pitchFamily="18" charset="0"/>
                <a:cs typeface="Times New Roman" pitchFamily="18" charset="0"/>
              </a:rPr>
              <a:t>Problem Statement</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a:xfrm>
            <a:off x="457200" y="1248697"/>
            <a:ext cx="8229600" cy="5380704"/>
          </a:xfrm>
        </p:spPr>
        <p:txBody>
          <a:bodyPr>
            <a:normAutofit fontScale="70000" lnSpcReduction="20000"/>
          </a:bodyPr>
          <a:lstStyle/>
          <a:p>
            <a:r>
              <a:rPr lang="en-IN" dirty="0"/>
              <a:t>Manual Record Management – Educational institutions often rely on paper-based or scattered digital records, making student information difficult to manage and update. </a:t>
            </a:r>
          </a:p>
          <a:p>
            <a:r>
              <a:rPr lang="en-IN" dirty="0"/>
              <a:t>Inefficient Behaviour Tracking – Monitoring and maintaining student behavioural records manually can lead to inaccuracies and delays in identifying issues. </a:t>
            </a:r>
          </a:p>
          <a:p>
            <a:r>
              <a:rPr lang="en-IN" dirty="0"/>
              <a:t>Attendance Monitoring Challenges – Tracking student attendance using traditional methods is time-consuming and prone to human errors. </a:t>
            </a:r>
          </a:p>
          <a:p>
            <a:r>
              <a:rPr lang="en-IN" dirty="0"/>
              <a:t>Lack of Centralized Data – Student information, attendance, and disciplinary records are often stored in different locations, making data retrieval difficult. </a:t>
            </a:r>
          </a:p>
          <a:p>
            <a:r>
              <a:rPr lang="en-IN" dirty="0"/>
              <a:t>Limited Reporting and Analysis – Schools face difficulties in generating detailed reports and </a:t>
            </a:r>
            <a:r>
              <a:rPr lang="en-IN" dirty="0" err="1"/>
              <a:t>analyzing</a:t>
            </a:r>
            <a:r>
              <a:rPr lang="en-IN" dirty="0"/>
              <a:t> student behaviour trends for informed decision-making. </a:t>
            </a:r>
          </a:p>
          <a:p>
            <a:r>
              <a:rPr lang="en-IN" dirty="0"/>
              <a:t>Increased Administrative Workload – Manual processes require significant effort from teachers and administrators, reducing productivity and efficiency in managing student records.</a:t>
            </a:r>
            <a:endParaRPr lang="en-US" dirty="0"/>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005349"/>
            <a:ext cx="8229600" cy="5440361"/>
          </a:xfrm>
        </p:spPr>
        <p:txBody>
          <a:bodyPr>
            <a:normAutofit fontScale="85000" lnSpcReduction="20000"/>
          </a:bodyPr>
          <a:lstStyle/>
          <a:p>
            <a:r>
              <a:rPr lang="en-IN" b="1" dirty="0"/>
              <a:t>Module 1: Incident Form Module</a:t>
            </a:r>
          </a:p>
          <a:p>
            <a:r>
              <a:rPr lang="en-IN" dirty="0"/>
              <a:t>Record and manage student behaviour incidents. </a:t>
            </a:r>
          </a:p>
          <a:p>
            <a:r>
              <a:rPr lang="en-IN" dirty="0"/>
              <a:t>Capture incident details, date, and description. </a:t>
            </a:r>
          </a:p>
          <a:p>
            <a:r>
              <a:rPr lang="en-IN" b="1" dirty="0"/>
              <a:t>Module 2: Severity Rating Module</a:t>
            </a:r>
          </a:p>
          <a:p>
            <a:r>
              <a:rPr lang="en-IN" dirty="0"/>
              <a:t>Assign severity levels to incidents. </a:t>
            </a:r>
          </a:p>
          <a:p>
            <a:r>
              <a:rPr lang="en-IN" dirty="0"/>
              <a:t>Categorize incidents based on their impact and seriousness. </a:t>
            </a:r>
          </a:p>
          <a:p>
            <a:r>
              <a:rPr lang="en-IN" b="1" dirty="0"/>
              <a:t>Module 3: Counsellor Referral Module</a:t>
            </a:r>
          </a:p>
          <a:p>
            <a:r>
              <a:rPr lang="en-IN" dirty="0"/>
              <a:t>Refer students for counselling when required. </a:t>
            </a:r>
          </a:p>
          <a:p>
            <a:r>
              <a:rPr lang="en-IN" dirty="0"/>
              <a:t>Track counselling recommendations and status. </a:t>
            </a:r>
          </a:p>
          <a:p>
            <a:r>
              <a:rPr lang="en-IN" b="1" dirty="0"/>
              <a:t>Module 4: Follow-up Tracking Module</a:t>
            </a:r>
          </a:p>
          <a:p>
            <a:r>
              <a:rPr lang="en-IN" dirty="0"/>
              <a:t>Monitor actions taken after incident reporting. </a:t>
            </a:r>
          </a:p>
          <a:p>
            <a:r>
              <a:rPr lang="en-IN" dirty="0"/>
              <a:t>Track progress and resolution of behavioural issues. </a:t>
            </a:r>
          </a:p>
          <a:p>
            <a:endParaRPr lang="en-IN" dirty="0"/>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879ED-0FEC-F705-434E-29F9ED4854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E943FE-0142-0E66-BD13-A71AD806ED49}"/>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2536E365-5810-29E8-7E68-325107773269}"/>
              </a:ext>
            </a:extLst>
          </p:cNvPr>
          <p:cNvSpPr>
            <a:spLocks noGrp="1"/>
          </p:cNvSpPr>
          <p:nvPr>
            <p:ph idx="1"/>
          </p:nvPr>
        </p:nvSpPr>
        <p:spPr>
          <a:xfrm>
            <a:off x="457200" y="1143000"/>
            <a:ext cx="8229600" cy="5622925"/>
          </a:xfrm>
        </p:spPr>
        <p:txBody>
          <a:bodyPr>
            <a:normAutofit fontScale="70000" lnSpcReduction="20000"/>
          </a:bodyPr>
          <a:lstStyle/>
          <a:p>
            <a:r>
              <a:rPr lang="en-IN" b="1" dirty="0"/>
              <a:t>Module 5: Incident History Module</a:t>
            </a:r>
          </a:p>
          <a:p>
            <a:r>
              <a:rPr lang="en-IN" dirty="0"/>
              <a:t>Maintain a complete history of student incidents. </a:t>
            </a:r>
          </a:p>
          <a:p>
            <a:r>
              <a:rPr lang="en-IN" dirty="0"/>
              <a:t>Enable quick access to previous behaviour records. </a:t>
            </a:r>
          </a:p>
          <a:p>
            <a:r>
              <a:rPr lang="en-IN" b="1" dirty="0"/>
              <a:t>Module 6: Report Export Module</a:t>
            </a:r>
          </a:p>
          <a:p>
            <a:r>
              <a:rPr lang="en-IN" dirty="0"/>
              <a:t>Generate behaviour and incident reports. </a:t>
            </a:r>
          </a:p>
          <a:p>
            <a:r>
              <a:rPr lang="en-IN" dirty="0"/>
              <a:t>Export reports in PDF and Excel formats. </a:t>
            </a:r>
          </a:p>
          <a:p>
            <a:r>
              <a:rPr lang="en-IN" b="1" dirty="0"/>
              <a:t>Module 7: Notification Module</a:t>
            </a:r>
          </a:p>
          <a:p>
            <a:r>
              <a:rPr lang="en-IN" dirty="0"/>
              <a:t>Send alerts for important updates and incidents. </a:t>
            </a:r>
          </a:p>
          <a:p>
            <a:r>
              <a:rPr lang="en-IN" dirty="0"/>
              <a:t>Keep users informed about pending actions. </a:t>
            </a:r>
          </a:p>
          <a:p>
            <a:r>
              <a:rPr lang="en-IN" b="1" dirty="0"/>
              <a:t>Module 8: Admin Panel Module</a:t>
            </a:r>
          </a:p>
          <a:p>
            <a:r>
              <a:rPr lang="en-IN" dirty="0"/>
              <a:t>Manage students, incidents, and system settings. </a:t>
            </a:r>
          </a:p>
          <a:p>
            <a:r>
              <a:rPr lang="en-IN" dirty="0"/>
              <a:t>Control user access and administrative functions. </a:t>
            </a:r>
          </a:p>
          <a:p>
            <a:r>
              <a:rPr lang="en-IN" b="1" dirty="0"/>
              <a:t>Module 9 Profile Management Module</a:t>
            </a:r>
          </a:p>
          <a:p>
            <a:r>
              <a:rPr lang="en-IN" dirty="0"/>
              <a:t>Manage student and user profile information. </a:t>
            </a:r>
          </a:p>
          <a:p>
            <a:r>
              <a:rPr lang="en-IN" dirty="0"/>
              <a:t>Update personal details and account settings.</a:t>
            </a:r>
          </a:p>
          <a:p>
            <a:endParaRPr lang="en-US" dirty="0"/>
          </a:p>
        </p:txBody>
      </p:sp>
      <p:pic>
        <p:nvPicPr>
          <p:cNvPr id="4" name="Picture 3">
            <a:extLst>
              <a:ext uri="{FF2B5EF4-FFF2-40B4-BE49-F238E27FC236}">
                <a16:creationId xmlns:a16="http://schemas.microsoft.com/office/drawing/2014/main" id="{4DEEC1CC-10F1-06E2-2550-86A530614F6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30908600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dirty="0">
                <a:solidFill>
                  <a:srgbClr val="0070C0"/>
                </a:solidFill>
                <a:latin typeface="Times New Roman" pitchFamily="18" charset="0"/>
                <a:cs typeface="Times New Roman" pitchFamily="18" charset="0"/>
              </a:rPr>
              <a:t>Expected Outcomes of the Proposed Work</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4" name="Content Placeholder 3">
            <a:extLst>
              <a:ext uri="{FF2B5EF4-FFF2-40B4-BE49-F238E27FC236}">
                <a16:creationId xmlns:a16="http://schemas.microsoft.com/office/drawing/2014/main" id="{2270A7B1-AE81-675E-BE7D-3D5A36D1C3B2}"/>
              </a:ext>
            </a:extLst>
          </p:cNvPr>
          <p:cNvSpPr>
            <a:spLocks noGrp="1"/>
          </p:cNvSpPr>
          <p:nvPr>
            <p:ph idx="1"/>
          </p:nvPr>
        </p:nvSpPr>
        <p:spPr>
          <a:xfrm>
            <a:off x="304800" y="1325562"/>
            <a:ext cx="8229600" cy="5532437"/>
          </a:xfrm>
        </p:spPr>
        <p:txBody>
          <a:bodyPr>
            <a:normAutofit/>
          </a:bodyPr>
          <a:lstStyle/>
          <a:p>
            <a:r>
              <a:rPr lang="en-IN" dirty="0"/>
              <a:t>Accurate and efficient recording of student behaviour incidents. Improved monitoring of student conduct and disciplinary activities. Better tracking of attendance and behavioural trends. Enhanced communication between teachers, administrators, and parents. Faster identification of students requiring counselling or intervention.</a:t>
            </a:r>
            <a:endParaRPr lang="en-US" dirty="0"/>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Tree>
    <p:extLst>
      <p:ext uri="{BB962C8B-B14F-4D97-AF65-F5344CB8AC3E}">
        <p14:creationId xmlns:p14="http://schemas.microsoft.com/office/powerpoint/2010/main" val="2610488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dirty="0">
                <a:solidFill>
                  <a:srgbClr val="0070C0"/>
                </a:solidFill>
                <a:latin typeface="Times New Roman" pitchFamily="18" charset="0"/>
                <a:cs typeface="Times New Roman" pitchFamily="18" charset="0"/>
              </a:rPr>
              <a:t>Conclusion and Future Scope</a:t>
            </a:r>
            <a:endParaRPr lang="en-IN" sz="2800"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147484" y="1050925"/>
            <a:ext cx="8834284" cy="5807075"/>
          </a:xfrm>
        </p:spPr>
        <p:txBody>
          <a:bodyPr>
            <a:normAutofit/>
          </a:bodyPr>
          <a:lstStyle/>
          <a:p>
            <a:pPr algn="just"/>
            <a:r>
              <a:rPr lang="en-IN" dirty="0"/>
              <a:t>The Student Behaviour Incident Log system simplifies the management of student behaviour and attendance records.</a:t>
            </a:r>
            <a:br>
              <a:rPr lang="en-IN" dirty="0"/>
            </a:br>
            <a:r>
              <a:rPr lang="en-IN" dirty="0"/>
              <a:t>It improves accuracy, transparency, and efficiency in handling student-related information.</a:t>
            </a:r>
            <a:br>
              <a:rPr lang="en-IN" dirty="0"/>
            </a:br>
            <a:r>
              <a:rPr lang="en-IN" dirty="0"/>
              <a:t>The system supports timely interventions through incident tracking and reporting.</a:t>
            </a:r>
            <a:br>
              <a:rPr lang="en-IN" dirty="0"/>
            </a:br>
            <a:r>
              <a:rPr lang="en-IN" dirty="0"/>
              <a:t>Overall, it enhances student monitoring and educational administration.</a:t>
            </a:r>
            <a:r>
              <a:rPr lang="en-US" dirty="0"/>
              <a:t>.</a:t>
            </a: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05174-1AF8-61C8-38E8-3DFEA001F4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A1B243-8997-EE96-9AB2-97A26E87E5D6}"/>
              </a:ext>
            </a:extLst>
          </p:cNvPr>
          <p:cNvSpPr>
            <a:spLocks noGrp="1"/>
          </p:cNvSpPr>
          <p:nvPr>
            <p:ph type="title"/>
          </p:nvPr>
        </p:nvSpPr>
        <p:spPr/>
        <p:txBody>
          <a:bodyPr>
            <a:normAutofit/>
          </a:bodyPr>
          <a:lstStyle/>
          <a:p>
            <a:r>
              <a:rPr lang="en-US" sz="2800" b="1" dirty="0">
                <a:solidFill>
                  <a:srgbClr val="0070C0"/>
                </a:solidFill>
                <a:latin typeface="Times New Roman" panose="02020603050405020304" pitchFamily="18" charset="0"/>
                <a:cs typeface="Times New Roman" panose="02020603050405020304" pitchFamily="18" charset="0"/>
              </a:rPr>
              <a:t>CO’S Concepts Used </a:t>
            </a:r>
          </a:p>
        </p:txBody>
      </p:sp>
      <p:graphicFrame>
        <p:nvGraphicFramePr>
          <p:cNvPr id="3" name="Content Placeholder 2">
            <a:extLst>
              <a:ext uri="{FF2B5EF4-FFF2-40B4-BE49-F238E27FC236}">
                <a16:creationId xmlns:a16="http://schemas.microsoft.com/office/drawing/2014/main" id="{81AEAC1A-D3A6-062E-53E9-ED14B54A53AD}"/>
              </a:ext>
            </a:extLst>
          </p:cNvPr>
          <p:cNvGraphicFramePr>
            <a:graphicFrameLocks noGrp="1"/>
          </p:cNvGraphicFramePr>
          <p:nvPr>
            <p:ph idx="1"/>
            <p:extLst>
              <p:ext uri="{D42A27DB-BD31-4B8C-83A1-F6EECF244321}">
                <p14:modId xmlns:p14="http://schemas.microsoft.com/office/powerpoint/2010/main" val="1393550523"/>
              </p:ext>
            </p:extLst>
          </p:nvPr>
        </p:nvGraphicFramePr>
        <p:xfrm>
          <a:off x="1495540" y="1686799"/>
          <a:ext cx="6152920" cy="4754880"/>
        </p:xfrm>
        <a:graphic>
          <a:graphicData uri="http://schemas.openxmlformats.org/drawingml/2006/table">
            <a:tbl>
              <a:tblPr/>
              <a:tblGrid>
                <a:gridCol w="3135454">
                  <a:extLst>
                    <a:ext uri="{9D8B030D-6E8A-4147-A177-3AD203B41FA5}">
                      <a16:colId xmlns:a16="http://schemas.microsoft.com/office/drawing/2014/main" val="1290413770"/>
                    </a:ext>
                  </a:extLst>
                </a:gridCol>
                <a:gridCol w="3017466">
                  <a:extLst>
                    <a:ext uri="{9D8B030D-6E8A-4147-A177-3AD203B41FA5}">
                      <a16:colId xmlns:a16="http://schemas.microsoft.com/office/drawing/2014/main" val="4089320415"/>
                    </a:ext>
                  </a:extLst>
                </a:gridCol>
              </a:tblGrid>
              <a:tr h="0">
                <a:tc>
                  <a:txBody>
                    <a:bodyPr/>
                    <a:lstStyle/>
                    <a:p>
                      <a:pPr>
                        <a:buNone/>
                      </a:pPr>
                      <a:r>
                        <a:rPr lang="en-US" b="1" dirty="0"/>
                        <a:t>CO</a:t>
                      </a:r>
                    </a:p>
                  </a:txBody>
                  <a:tcPr anchor="ctr">
                    <a:lnL>
                      <a:noFill/>
                    </a:lnL>
                    <a:lnR>
                      <a:noFill/>
                    </a:lnR>
                    <a:lnT>
                      <a:noFill/>
                    </a:lnT>
                    <a:lnB>
                      <a:noFill/>
                    </a:lnB>
                    <a:noFill/>
                  </a:tcPr>
                </a:tc>
                <a:tc>
                  <a:txBody>
                    <a:bodyPr/>
                    <a:lstStyle/>
                    <a:p>
                      <a:pPr>
                        <a:buNone/>
                      </a:pPr>
                      <a:r>
                        <a:rPr lang="en-US" b="1" dirty="0"/>
                        <a:t>Concepts Used in Project</a:t>
                      </a:r>
                    </a:p>
                  </a:txBody>
                  <a:tcPr anchor="ctr">
                    <a:lnL>
                      <a:noFill/>
                    </a:lnL>
                    <a:lnR>
                      <a:noFill/>
                    </a:lnR>
                    <a:lnT>
                      <a:noFill/>
                    </a:lnT>
                    <a:lnB>
                      <a:noFill/>
                    </a:lnB>
                    <a:noFill/>
                  </a:tcPr>
                </a:tc>
                <a:extLst>
                  <a:ext uri="{0D108BD9-81ED-4DB2-BD59-A6C34878D82A}">
                    <a16:rowId xmlns:a16="http://schemas.microsoft.com/office/drawing/2014/main" val="436427622"/>
                  </a:ext>
                </a:extLst>
              </a:tr>
              <a:tr h="0">
                <a:tc>
                  <a:txBody>
                    <a:bodyPr/>
                    <a:lstStyle/>
                    <a:p>
                      <a:pPr>
                        <a:buNone/>
                      </a:pPr>
                      <a:r>
                        <a:rPr lang="en-US" dirty="0"/>
                        <a:t>CO1</a:t>
                      </a:r>
                    </a:p>
                  </a:txBody>
                  <a:tcPr anchor="ctr">
                    <a:lnL>
                      <a:noFill/>
                    </a:lnL>
                    <a:lnR>
                      <a:noFill/>
                    </a:lnR>
                    <a:lnT>
                      <a:noFill/>
                    </a:lnT>
                    <a:lnB>
                      <a:noFill/>
                    </a:lnB>
                    <a:noFill/>
                  </a:tcPr>
                </a:tc>
                <a:tc>
                  <a:txBody>
                    <a:bodyPr/>
                    <a:lstStyle/>
                    <a:p>
                      <a:pPr>
                        <a:buNone/>
                      </a:pPr>
                      <a:r>
                        <a:rPr lang="en-IN" dirty="0"/>
                        <a:t>Virtual DOM improves rendering efficiency.</a:t>
                      </a:r>
                      <a:endParaRPr lang="en-US" dirty="0"/>
                    </a:p>
                  </a:txBody>
                  <a:tcPr anchor="ctr">
                    <a:lnL>
                      <a:noFill/>
                    </a:lnL>
                    <a:lnR>
                      <a:noFill/>
                    </a:lnR>
                    <a:lnT>
                      <a:noFill/>
                    </a:lnT>
                    <a:lnB>
                      <a:noFill/>
                    </a:lnB>
                    <a:noFill/>
                  </a:tcPr>
                </a:tc>
                <a:extLst>
                  <a:ext uri="{0D108BD9-81ED-4DB2-BD59-A6C34878D82A}">
                    <a16:rowId xmlns:a16="http://schemas.microsoft.com/office/drawing/2014/main" val="3608248368"/>
                  </a:ext>
                </a:extLst>
              </a:tr>
              <a:tr h="0">
                <a:tc>
                  <a:txBody>
                    <a:bodyPr/>
                    <a:lstStyle/>
                    <a:p>
                      <a:pPr>
                        <a:buNone/>
                      </a:pPr>
                      <a:r>
                        <a:rPr lang="en-US" dirty="0"/>
                        <a:t>CO2</a:t>
                      </a:r>
                    </a:p>
                  </a:txBody>
                  <a:tcPr anchor="ctr">
                    <a:lnL>
                      <a:noFill/>
                    </a:lnL>
                    <a:lnR>
                      <a:noFill/>
                    </a:lnR>
                    <a:lnT>
                      <a:noFill/>
                    </a:lnT>
                    <a:lnB>
                      <a:noFill/>
                    </a:lnB>
                    <a:noFill/>
                  </a:tcPr>
                </a:tc>
                <a:tc>
                  <a:txBody>
                    <a:bodyPr/>
                    <a:lstStyle/>
                    <a:p>
                      <a:pPr>
                        <a:buNone/>
                      </a:pPr>
                      <a:r>
                        <a:rPr lang="en-IN" dirty="0"/>
                        <a:t>ES6 features improve JavaScript development.</a:t>
                      </a:r>
                      <a:endParaRPr lang="en-US" dirty="0"/>
                    </a:p>
                  </a:txBody>
                  <a:tcPr anchor="ctr">
                    <a:lnL>
                      <a:noFill/>
                    </a:lnL>
                    <a:lnR>
                      <a:noFill/>
                    </a:lnR>
                    <a:lnT>
                      <a:noFill/>
                    </a:lnT>
                    <a:lnB>
                      <a:noFill/>
                    </a:lnB>
                    <a:noFill/>
                  </a:tcPr>
                </a:tc>
                <a:extLst>
                  <a:ext uri="{0D108BD9-81ED-4DB2-BD59-A6C34878D82A}">
                    <a16:rowId xmlns:a16="http://schemas.microsoft.com/office/drawing/2014/main" val="86196056"/>
                  </a:ext>
                </a:extLst>
              </a:tr>
              <a:tr h="0">
                <a:tc>
                  <a:txBody>
                    <a:bodyPr/>
                    <a:lstStyle/>
                    <a:p>
                      <a:pPr>
                        <a:buNone/>
                      </a:pPr>
                      <a:r>
                        <a:rPr lang="en-US" dirty="0"/>
                        <a:t>CO3</a:t>
                      </a:r>
                    </a:p>
                  </a:txBody>
                  <a:tcPr anchor="ctr">
                    <a:lnL>
                      <a:noFill/>
                    </a:lnL>
                    <a:lnR>
                      <a:noFill/>
                    </a:lnR>
                    <a:lnT>
                      <a:noFill/>
                    </a:lnT>
                    <a:lnB>
                      <a:noFill/>
                    </a:lnB>
                    <a:noFill/>
                  </a:tcPr>
                </a:tc>
                <a:tc>
                  <a:txBody>
                    <a:bodyPr/>
                    <a:lstStyle/>
                    <a:p>
                      <a:pPr>
                        <a:buNone/>
                      </a:pPr>
                      <a:r>
                        <a:rPr lang="en-IN" dirty="0"/>
                        <a:t>Props enable parent-to-child data transfer</a:t>
                      </a:r>
                      <a:endParaRPr lang="en-US" dirty="0"/>
                    </a:p>
                  </a:txBody>
                  <a:tcPr anchor="ctr">
                    <a:lnL>
                      <a:noFill/>
                    </a:lnL>
                    <a:lnR>
                      <a:noFill/>
                    </a:lnR>
                    <a:lnT>
                      <a:noFill/>
                    </a:lnT>
                    <a:lnB>
                      <a:noFill/>
                    </a:lnB>
                    <a:noFill/>
                  </a:tcPr>
                </a:tc>
                <a:extLst>
                  <a:ext uri="{0D108BD9-81ED-4DB2-BD59-A6C34878D82A}">
                    <a16:rowId xmlns:a16="http://schemas.microsoft.com/office/drawing/2014/main" val="3381928706"/>
                  </a:ext>
                </a:extLst>
              </a:tr>
              <a:tr h="0">
                <a:tc>
                  <a:txBody>
                    <a:bodyPr/>
                    <a:lstStyle/>
                    <a:p>
                      <a:pPr>
                        <a:buNone/>
                      </a:pPr>
                      <a:r>
                        <a:rPr lang="en-US"/>
                        <a:t>CO4</a:t>
                      </a:r>
                    </a:p>
                  </a:txBody>
                  <a:tcPr anchor="ctr">
                    <a:lnL>
                      <a:noFill/>
                    </a:lnL>
                    <a:lnR>
                      <a:noFill/>
                    </a:lnR>
                    <a:lnT>
                      <a:noFill/>
                    </a:lnT>
                    <a:lnB>
                      <a:noFill/>
                    </a:lnB>
                    <a:noFill/>
                  </a:tcPr>
                </a:tc>
                <a:tc>
                  <a:txBody>
                    <a:bodyPr/>
                    <a:lstStyle/>
                    <a:p>
                      <a:pPr>
                        <a:buNone/>
                      </a:pPr>
                      <a:r>
                        <a:rPr lang="en-IN" dirty="0"/>
                        <a:t>Context API enables global state sharing.</a:t>
                      </a:r>
                      <a:r>
                        <a:rPr lang="en-US" dirty="0"/>
                        <a:t>State Management, Data Processing, Async Operations</a:t>
                      </a:r>
                    </a:p>
                  </a:txBody>
                  <a:tcPr anchor="ctr">
                    <a:lnL>
                      <a:noFill/>
                    </a:lnL>
                    <a:lnR>
                      <a:noFill/>
                    </a:lnR>
                    <a:lnT>
                      <a:noFill/>
                    </a:lnT>
                    <a:lnB>
                      <a:noFill/>
                    </a:lnB>
                    <a:noFill/>
                  </a:tcPr>
                </a:tc>
                <a:extLst>
                  <a:ext uri="{0D108BD9-81ED-4DB2-BD59-A6C34878D82A}">
                    <a16:rowId xmlns:a16="http://schemas.microsoft.com/office/drawing/2014/main" val="1297093893"/>
                  </a:ext>
                </a:extLst>
              </a:tr>
              <a:tr h="0">
                <a:tc>
                  <a:txBody>
                    <a:bodyPr/>
                    <a:lstStyle/>
                    <a:p>
                      <a:pPr>
                        <a:buNone/>
                      </a:pPr>
                      <a:r>
                        <a:rPr lang="en-US"/>
                        <a:t>CO5</a:t>
                      </a:r>
                    </a:p>
                  </a:txBody>
                  <a:tcPr anchor="ctr">
                    <a:lnL>
                      <a:noFill/>
                    </a:lnL>
                    <a:lnR>
                      <a:noFill/>
                    </a:lnR>
                    <a:lnT>
                      <a:noFill/>
                    </a:lnT>
                    <a:lnB>
                      <a:noFill/>
                    </a:lnB>
                    <a:noFill/>
                  </a:tcPr>
                </a:tc>
                <a:tc>
                  <a:txBody>
                    <a:bodyPr/>
                    <a:lstStyle/>
                    <a:p>
                      <a:pPr>
                        <a:buNone/>
                      </a:pPr>
                      <a:r>
                        <a:rPr lang="en-IN" dirty="0"/>
                        <a:t>React Router enables seamless page navigation.</a:t>
                      </a:r>
                      <a:endParaRPr lang="en-US" dirty="0"/>
                    </a:p>
                  </a:txBody>
                  <a:tcPr anchor="ctr">
                    <a:lnL>
                      <a:noFill/>
                    </a:lnL>
                    <a:lnR>
                      <a:noFill/>
                    </a:lnR>
                    <a:lnT>
                      <a:noFill/>
                    </a:lnT>
                    <a:lnB>
                      <a:noFill/>
                    </a:lnB>
                    <a:noFill/>
                  </a:tcPr>
                </a:tc>
                <a:extLst>
                  <a:ext uri="{0D108BD9-81ED-4DB2-BD59-A6C34878D82A}">
                    <a16:rowId xmlns:a16="http://schemas.microsoft.com/office/drawing/2014/main" val="3981526289"/>
                  </a:ext>
                </a:extLst>
              </a:tr>
              <a:tr h="0">
                <a:tc>
                  <a:txBody>
                    <a:bodyPr/>
                    <a:lstStyle/>
                    <a:p>
                      <a:pPr>
                        <a:buNone/>
                      </a:pPr>
                      <a:r>
                        <a:rPr lang="en-US" dirty="0"/>
                        <a:t>CO6</a:t>
                      </a:r>
                    </a:p>
                  </a:txBody>
                  <a:tcPr anchor="ctr">
                    <a:lnL>
                      <a:noFill/>
                    </a:lnL>
                    <a:lnR>
                      <a:noFill/>
                    </a:lnR>
                    <a:lnT>
                      <a:noFill/>
                    </a:lnT>
                    <a:lnB>
                      <a:noFill/>
                    </a:lnB>
                    <a:noFill/>
                  </a:tcPr>
                </a:tc>
                <a:tc>
                  <a:txBody>
                    <a:bodyPr/>
                    <a:lstStyle/>
                    <a:p>
                      <a:pPr>
                        <a:buNone/>
                      </a:pPr>
                      <a:r>
                        <a:rPr lang="en-US" dirty="0"/>
                        <a:t>Vite, Deployment, Optimization, Scalability</a:t>
                      </a:r>
                    </a:p>
                  </a:txBody>
                  <a:tcPr anchor="ctr">
                    <a:lnL>
                      <a:noFill/>
                    </a:lnL>
                    <a:lnR>
                      <a:noFill/>
                    </a:lnR>
                    <a:lnT>
                      <a:noFill/>
                    </a:lnT>
                    <a:lnB>
                      <a:noFill/>
                    </a:lnB>
                    <a:noFill/>
                  </a:tcPr>
                </a:tc>
                <a:extLst>
                  <a:ext uri="{0D108BD9-81ED-4DB2-BD59-A6C34878D82A}">
                    <a16:rowId xmlns:a16="http://schemas.microsoft.com/office/drawing/2014/main" val="801968023"/>
                  </a:ext>
                </a:extLst>
              </a:tr>
            </a:tbl>
          </a:graphicData>
        </a:graphic>
      </p:graphicFrame>
      <p:pic>
        <p:nvPicPr>
          <p:cNvPr id="5" name="Picture 4">
            <a:extLst>
              <a:ext uri="{FF2B5EF4-FFF2-40B4-BE49-F238E27FC236}">
                <a16:creationId xmlns:a16="http://schemas.microsoft.com/office/drawing/2014/main" id="{8BAFD3D7-C46A-AF28-E32A-07E33B5CAA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1996705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44B7E-093B-E82B-C2C2-084034B51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99E775-21D9-53E8-5A89-38A8E39BCF0D}"/>
              </a:ext>
            </a:extLst>
          </p:cNvPr>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sp>
        <p:nvSpPr>
          <p:cNvPr id="6" name="Content Placeholder 5">
            <a:extLst>
              <a:ext uri="{FF2B5EF4-FFF2-40B4-BE49-F238E27FC236}">
                <a16:creationId xmlns:a16="http://schemas.microsoft.com/office/drawing/2014/main" id="{B9B1C327-21D8-3CE6-A20C-0E30565364FC}"/>
              </a:ext>
            </a:extLst>
          </p:cNvPr>
          <p:cNvSpPr>
            <a:spLocks noGrp="1"/>
          </p:cNvSpPr>
          <p:nvPr>
            <p:ph idx="1"/>
          </p:nvPr>
        </p:nvSpPr>
        <p:spPr/>
        <p:txBody>
          <a:bodyPr>
            <a:normAutofit fontScale="92500" lnSpcReduction="10000"/>
          </a:bodyPr>
          <a:lstStyle/>
          <a:p>
            <a:pPr marL="0" indent="0">
              <a:buNone/>
            </a:pPr>
            <a:r>
              <a:rPr lang="en-US" b="1" dirty="0"/>
              <a:t>References:</a:t>
            </a:r>
          </a:p>
          <a:p>
            <a:r>
              <a:rPr lang="en-US" dirty="0"/>
              <a:t>React.js Official Documentation.</a:t>
            </a:r>
          </a:p>
          <a:p>
            <a:r>
              <a:rPr lang="en-US" dirty="0"/>
              <a:t>Vite Official Documentation.</a:t>
            </a:r>
          </a:p>
          <a:p>
            <a:r>
              <a:rPr lang="en-US" dirty="0"/>
              <a:t>Research Papers on Credit Scoring and Financial Risk Assessment.</a:t>
            </a:r>
          </a:p>
          <a:p>
            <a:r>
              <a:rPr lang="en-US" dirty="0"/>
              <a:t>Financial Analytics and Loan Eligibility Prediction Studies.</a:t>
            </a:r>
          </a:p>
          <a:p>
            <a:r>
              <a:rPr lang="en-US" dirty="0"/>
              <a:t>Artificial Intelligence Applications in Finance Journals.</a:t>
            </a:r>
            <a:endParaRPr lang="en-IN" dirty="0"/>
          </a:p>
        </p:txBody>
      </p:sp>
      <p:pic>
        <p:nvPicPr>
          <p:cNvPr id="5" name="Picture 4">
            <a:extLst>
              <a:ext uri="{FF2B5EF4-FFF2-40B4-BE49-F238E27FC236}">
                <a16:creationId xmlns:a16="http://schemas.microsoft.com/office/drawing/2014/main" id="{20E87226-91C3-4AAE-BDE0-4FB913DA89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Tree>
    <p:extLst>
      <p:ext uri="{BB962C8B-B14F-4D97-AF65-F5344CB8AC3E}">
        <p14:creationId xmlns:p14="http://schemas.microsoft.com/office/powerpoint/2010/main" val="954390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rPr>
              <a:t>Thank you</a:t>
            </a:r>
            <a:endPar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1550</TotalTime>
  <Words>961</Words>
  <Application>Microsoft Office PowerPoint</Application>
  <PresentationFormat>On-screen Show (4:3)</PresentationFormat>
  <Paragraphs>96</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A Project Review Meeting    on Student Behaviour incident log  </vt:lpstr>
      <vt:lpstr>Outline of the Presentation</vt:lpstr>
      <vt:lpstr>Abstract</vt:lpstr>
      <vt:lpstr>Introduction</vt:lpstr>
      <vt:lpstr>Problem Statement </vt:lpstr>
      <vt:lpstr>Modules [Frontend web pages]</vt:lpstr>
      <vt:lpstr>Modules [Frontend web pages]</vt:lpstr>
      <vt:lpstr>Expected Outcomes of the Proposed Work </vt:lpstr>
      <vt:lpstr>Conclusion and Future Scope</vt:lpstr>
      <vt:lpstr>CO’S Concepts Used </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chandra nikhilesh</cp:lastModifiedBy>
  <cp:revision>5</cp:revision>
  <dcterms:created xsi:type="dcterms:W3CDTF">2006-08-16T00:00:00Z</dcterms:created>
  <dcterms:modified xsi:type="dcterms:W3CDTF">2026-06-21T05:33:20Z</dcterms:modified>
</cp:coreProperties>
</file>